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% of Smoking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Smoking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Never Smoked</c:v>
                </c:pt>
                <c:pt idx="1">
                  <c:v>Former Smoker</c:v>
                </c:pt>
                <c:pt idx="2">
                  <c:v>Current Smoker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1136</c:v>
                </c:pt>
                <c:pt idx="1">
                  <c:v>631</c:v>
                </c:pt>
                <c:pt idx="2">
                  <c:v>733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Smoking Status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Never</c:v>
                  </c:pt>
                  <c:pt idx="1">
                    <c:v>Former</c:v>
                  </c:pt>
                  <c:pt idx="2">
                    <c:v>Current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567</c:v>
                </c:pt>
                <c:pt idx="1">
                  <c:v>312</c:v>
                </c:pt>
                <c:pt idx="2">
                  <c:v>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Never</c:v>
                  </c:pt>
                  <c:pt idx="1">
                    <c:v>Former</c:v>
                  </c:pt>
                  <c:pt idx="2">
                    <c:v>Current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569</c:v>
                </c:pt>
                <c:pt idx="1">
                  <c:v>319</c:v>
                </c:pt>
                <c:pt idx="2">
                  <c:v>374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Smoking Duration &amp; Intake by Age Group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Years of Smoking</c:v>
                </c:pt>
              </c:strCache>
            </c:strRef>
          </c:tx>
          <c:spPr>
            <a:solidFill>
              <a:srgbClr val="0D7C8F"/>
            </a:solidFill>
            <a:ln w="31750" cap="flat">
              <a:solidFill>
                <a:srgbClr val="0D7C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C8F"/>
              </a:solidFill>
              <a:ln w="9525" cap="flat">
                <a:solidFill>
                  <a:srgbClr val="0D7C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18–28</c:v>
                  </c:pt>
                  <c:pt idx="1">
                    <c:v>29–38</c:v>
                  </c:pt>
                  <c:pt idx="2">
                    <c:v>39–48</c:v>
                  </c:pt>
                  <c:pt idx="3">
                    <c:v>49–58</c:v>
                  </c:pt>
                  <c:pt idx="4">
                    <c:v>59–68</c:v>
                  </c:pt>
                  <c:pt idx="5">
                    <c:v>69+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21.1</c:v>
                </c:pt>
                <c:pt idx="1">
                  <c:v>23.3</c:v>
                </c:pt>
                <c:pt idx="2">
                  <c:v>21.4</c:v>
                </c:pt>
                <c:pt idx="3">
                  <c:v>23.1</c:v>
                </c:pt>
                <c:pt idx="4">
                  <c:v>22.4</c:v>
                </c:pt>
                <c:pt idx="5">
                  <c:v>22.2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Cigarettes/Day</c:v>
                </c:pt>
              </c:strCache>
            </c:strRef>
          </c:tx>
          <c:spPr>
            <a:solidFill>
              <a:srgbClr val="E67E22"/>
            </a:solidFill>
            <a:ln w="3175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18–28</c:v>
                  </c:pt>
                  <c:pt idx="1">
                    <c:v>29–38</c:v>
                  </c:pt>
                  <c:pt idx="2">
                    <c:v>39–48</c:v>
                  </c:pt>
                  <c:pt idx="3">
                    <c:v>49–58</c:v>
                  </c:pt>
                  <c:pt idx="4">
                    <c:v>59–68</c:v>
                  </c:pt>
                  <c:pt idx="5">
                    <c:v>69+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17.8</c:v>
                </c:pt>
                <c:pt idx="1">
                  <c:v>16.2</c:v>
                </c:pt>
                <c:pt idx="2">
                  <c:v>18.1</c:v>
                </c:pt>
                <c:pt idx="3">
                  <c:v>17.5</c:v>
                </c:pt>
                <c:pt idx="4">
                  <c:v>16.9</c:v>
                </c:pt>
                <c:pt idx="5">
                  <c:v>15.6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Overall Organ Condition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 Condition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Healthy</c:v>
                  </c:pt>
                  <c:pt idx="1">
                    <c:v>Damaged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1603</c:v>
                </c:pt>
                <c:pt idx="1">
                  <c:v>897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Blood Pressure Risk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 Risk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Normal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475</c:v>
                </c:pt>
                <c:pt idx="1">
                  <c:v>1396</c:v>
                </c:pt>
                <c:pt idx="2">
                  <c:v>629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011680"/>
            <a:ext cx="2926080" cy="7315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675120" y="640080"/>
            <a:ext cx="201168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2331720"/>
            <a:ext cx="2468880" cy="685800"/>
          </a:xfrm>
          <a:prstGeom prst="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12A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2331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2,500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46520" y="2715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Total Patients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46520" y="3154680"/>
            <a:ext cx="2468880" cy="685800"/>
          </a:xfrm>
          <a:prstGeom prst="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12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3154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35.9%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46520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Damaged Organs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46520" y="3977640"/>
            <a:ext cx="2468880" cy="685800"/>
          </a:xfrm>
          <a:prstGeom prst="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12A3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77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29.3%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46520" y="4361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Current Smokers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457200"/>
            <a:ext cx="1371600" cy="25603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HEALTH ANALYTICS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74320" y="10058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Health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274320" y="17830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5200" dirty="0"/>
          </a:p>
        </p:txBody>
      </p:sp>
      <p:sp>
        <p:nvSpPr>
          <p:cNvPr id="19" name="Text 16"/>
          <p:cNvSpPr/>
          <p:nvPr/>
        </p:nvSpPr>
        <p:spPr>
          <a:xfrm>
            <a:off x="274320" y="27889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5A5A6"/>
                </a:solidFill>
              </a:rPr>
              <a:t>A comprehensive assessment of smoking-related health impacts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5A5A6"/>
                </a:solidFill>
              </a:rPr>
              <a:t>across 2,500 patients — presented for executive review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</a:rPr>
              <a:t>CONFIDENTIAL  |  INTERNAL USE ONLY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A3B8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This analysis examines the health outcomes of 2,500 patients across multiple organ systems, evaluating the relationship between smoking history, duration, and disease burden — providing critical insights for targeted intervention strategies.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196596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</a:rPr>
              <a:t>2,500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Patients Analyzed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8620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Avg Age 54 • Avg BMI 29.6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50592" y="16916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691640"/>
            <a:ext cx="19659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</a:rPr>
              <a:t>35.9%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50592" y="26060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Organ Damage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50592" y="28620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897 patients affected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16916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691640"/>
            <a:ext cx="196596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7E22"/>
                </a:solidFill>
              </a:rPr>
              <a:t>29.3%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26864" y="26060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Current Smokers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6864" y="28620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733 active users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03136" y="16916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691640"/>
            <a:ext cx="1965960" cy="7315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C8F"/>
                </a:solidFill>
              </a:rPr>
              <a:t>25.2%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03136" y="26060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High BP Risk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3136" y="28620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629 at elevated 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273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C8F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109728" cy="10972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611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Current smokers average 22.2 years of smoking history and 16.8 cigarettes per day — indicating deeply entrenched dependency.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931920"/>
            <a:ext cx="109728" cy="10972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9044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Organ damage is significantly concentrated among smoking populations, with lungs, heart, and kidneys at highest risk.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224528"/>
            <a:ext cx="109728" cy="10972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197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Nearly 30% of patients have a positive family history risk, compounding the impact of active smoking behavior.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17136"/>
            <a:ext cx="109728" cy="10972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4897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Both male and female patients show similar smoking distribution — the health risk burden is gender-neutral.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SMOKING STATUS DISTRIBUTION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A3B8"/>
                </a:solidFill>
              </a:rPr>
              <a:t>03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C8F"/>
                </a:solidFill>
              </a:rPr>
              <a:t>BREAKDOWN BY CATEGORY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0" y="1261872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1261872"/>
            <a:ext cx="64008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93792" y="1316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Never Smoked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93792" y="1536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1136 patients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046720" y="1371600"/>
            <a:ext cx="6858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13716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45.4%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93792" y="1828800"/>
            <a:ext cx="3291840" cy="10972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93792" y="1828800"/>
            <a:ext cx="1494495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0" y="2267712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2267712"/>
            <a:ext cx="64008" cy="8412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93792" y="23225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Former Smoker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93792" y="2542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631 patients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46720" y="2377440"/>
            <a:ext cx="68580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0" y="23774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25.2%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193792" y="2834640"/>
            <a:ext cx="3291840" cy="10972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93792" y="2834640"/>
            <a:ext cx="829544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0" y="3273552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0" y="3273552"/>
            <a:ext cx="6400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3328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Current Smoker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93792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733 patients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046720" y="3383280"/>
            <a:ext cx="6858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0" y="3383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29.3%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93792" y="3840480"/>
            <a:ext cx="3291840" cy="10972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93792" y="3840480"/>
            <a:ext cx="964509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0" y="4160520"/>
            <a:ext cx="3840480" cy="749808"/>
          </a:xfrm>
          <a:prstGeom prst="rect">
            <a:avLst/>
          </a:prstGeom>
          <a:solidFill>
            <a:srgbClr val="0D7C8F">
              <a:alpha val="15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6636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C8F"/>
                </a:solidFill>
              </a:rPr>
              <a:t>💡  Insight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166360" y="44074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Over half the dataset has never smoked or has quit — suggesting interventions for former smokers could yield measurable health recovery benefits.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SMOKING BY GENDER &amp; AGE GROUP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A3B8"/>
                </a:solidFill>
              </a:rPr>
              <a:t>04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82296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41605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20040" y="4206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👨  Male – Current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2004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C8F"/>
                </a:solidFill>
              </a:rPr>
              <a:t>374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20040" y="4654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29.6% of all males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423160" y="41605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14600" y="4206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👩  Female – Current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51460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C8F"/>
                </a:solidFill>
              </a:rPr>
              <a:t>359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514600" y="4654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29.0% of all females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617720" y="41605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09160" y="4206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🕐  Avg Smoking Duration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0916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C8F"/>
                </a:solidFill>
              </a:rPr>
              <a:t>22.2 yrs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709160" y="4654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Among current smokers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812280" y="41605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903720" y="4206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🚬  Avg Cigarettes/Day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90372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C8F"/>
                </a:solidFill>
              </a:rPr>
              <a:t>16.8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903720" y="4654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Among current smokers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ORGAN DAMAGE &amp; HEALTH RISK PROFILE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82296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31546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28600" y="315468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35.9%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20040" y="3593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Organ Damage Rate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2004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897 out of 2,500 patients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441448" y="31546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41448" y="3154680"/>
            <a:ext cx="20116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32888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25.2%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532888" y="3593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High BP Risk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532888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629 patients with elevated BP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654296" y="31546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4296" y="3154680"/>
            <a:ext cx="20116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4573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29.7%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745736" y="3593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Family History Risk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45736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742 patients — compounding factor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6867144" y="31546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867144" y="3154680"/>
            <a:ext cx="20116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58584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45.4%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958584" y="3593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Healthy &amp; Never Smoked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958584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Protection benchmark group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228600" y="4160520"/>
            <a:ext cx="8686800" cy="749808"/>
          </a:xfrm>
          <a:prstGeom prst="rect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5760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 CRITICAL RISK FINDING: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65760" y="44348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Current smokers have the highest organ damage concentration. Patients with both active smoking and family history risk represent a compounded vulnerability tier requiring immediate clinical intervention.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STRATEGIC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5A5A6"/>
                </a:solidFill>
              </a:rPr>
              <a:t>Based on our analysis of 2,500 patients, we recommend the following actionable steps: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1508760"/>
          </a:xfrm>
          <a:prstGeom prst="rect">
            <a:avLst/>
          </a:prstGeom>
          <a:solidFill>
            <a:srgbClr val="1E3A5F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35608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35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4173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Launch Targeted Cessation Programs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1847088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5A5A6"/>
                </a:solidFill>
              </a:rPr>
              <a:t>With 733 current smokers averaging 22 years of use and 16.8 cigarettes/day, structured behavioral therapy and pharmacological support are urgently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4114800" cy="1508760"/>
          </a:xfrm>
          <a:prstGeom prst="rect">
            <a:avLst/>
          </a:prstGeom>
          <a:solidFill>
            <a:srgbClr val="1E3A5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90088"/>
            <a:ext cx="64008" cy="1508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3127248"/>
            <a:ext cx="34747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08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Prioritize High-Risk Demographic Screening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3538728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5A5A6"/>
                </a:solidFill>
              </a:rPr>
              <a:t>Patients with both active smoking and family history (≈30%) face compounded organ damage risk. These patients should receive quarterly organ function assessments.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4114800" cy="1508760"/>
          </a:xfrm>
          <a:prstGeom prst="rect">
            <a:avLst/>
          </a:prstGeom>
          <a:solidFill>
            <a:srgbClr val="1E3A5F"/>
          </a:solidFill>
          <a:ln w="635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98448"/>
            <a:ext cx="64008" cy="1508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10912" y="1435608"/>
            <a:ext cx="347472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435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4173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Support Former Smoker Recovery Pathways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10912" y="1847088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5A5A6"/>
                </a:solidFill>
              </a:rPr>
              <a:t>631 former smokers show partial recovery potential. Structured nutritional, pulmonary, and cardiac rehab programs can meaningfully reduce residual damage.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990088"/>
            <a:ext cx="4114800" cy="1508760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990088"/>
            <a:ext cx="64008" cy="15087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0912" y="3127248"/>
            <a:ext cx="347472" cy="34747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108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Implement Population-Wide BP Monitoring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10912" y="3538728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5A5A6"/>
                </a:solidFill>
              </a:rPr>
              <a:t>With 25.2% carrying high BP risk and smoking as a compounding factor, routine blood pressure monitoring and early statin/ACE inhibitor intervention are recommended.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5943600" y="73152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50292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Dataset: 2,500 patients  |  Variables: 13  |  Analysis: Smoking &amp; Health Outcomes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4F8"/>
                </a:solidFill>
              </a:rPr>
              <a:t>Questions? Let's discuss the data, findings, and next steps for your health strategy.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Health Analytics Division  •  Internal Presentation  •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Smoking Health Risk Analysis</dc:title>
  <dc:subject>PptxGenJS Presentation</dc:subject>
  <dc:creator>Health Analytics Team</dc:creator>
  <cp:lastModifiedBy>Health Analytics Team</cp:lastModifiedBy>
  <cp:revision>1</cp:revision>
  <dcterms:created xsi:type="dcterms:W3CDTF">2026-04-03T13:01:28Z</dcterms:created>
  <dcterms:modified xsi:type="dcterms:W3CDTF">2026-04-03T13:01:28Z</dcterms:modified>
</cp:coreProperties>
</file>